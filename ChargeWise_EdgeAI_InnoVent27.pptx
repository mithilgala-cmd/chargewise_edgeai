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1" r:id="rId17"/>
    <p:sldId id="272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range (%)</c:v>
                </c:pt>
              </c:strCache>
            </c:strRef>
          </c:tx>
          <c:spPr>
            <a:solidFill>
              <a:srgbClr val="0EA5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623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Charging cost ↓</c:v>
                </c:pt>
                <c:pt idx="1">
                  <c:v>Battery lifespan ↑</c:v>
                </c:pt>
                <c:pt idx="2">
                  <c:v>Wait time ↓</c:v>
                </c:pt>
                <c:pt idx="3">
                  <c:v>Grid utilization 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7D-44DF-88EC-356D85F809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387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F3D5C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474720"/>
            <a:ext cx="4114800" cy="4114800"/>
          </a:xfrm>
          <a:prstGeom prst="ellipse">
            <a:avLst/>
          </a:prstGeom>
          <a:solidFill>
            <a:srgbClr val="0EA5A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767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58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TECHNOLOGIES INNOVENT-27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ChargeWise EdgeAI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EV Charging &amp; Battery Optimization at the Edge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58368" y="4251960"/>
            <a:ext cx="2926080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the Edge Solutions for Automotive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28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for Electric &amp; Sustainable Mobility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51755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 —  Mithil Gala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FY27-7032749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apps find stations. They don't make decisions.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20333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not strategy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locate the nearest charger but give no guidance on when, where, or how much to charge.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357" y="20333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18928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ignored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72200" y="24688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 fast-charging to 100% accelerates degradation — the single costliest EV ownership expense.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97" y="427367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1330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at peak hours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77240" y="47091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EV adoption concentrates demand at popular stations, extending queues during peak windows.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43600" y="39319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172200" y="4160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357" y="427367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41330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anxiety persists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172200" y="470916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route-aware planning, drivers over-charge defensively, wasting time and battery cycles.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EV inflection point strains charging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electric car sales, 2025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FADA / electrive.com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26280" y="18288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29,000+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charging stations installed nationwide (2025)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3200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21040" y="18288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235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EV-to-public-charger ratio vs. ~1:20 ideal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3200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estimate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scaling faster than intelligence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count is growing roughly sixfold since 2022, but station-level software has not kept pace — utilization, queueing, and tariff-aware routing remain unsolved.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precisely where an edge-AI decision layer adds value: turning a growing but uneven network into a predictable charging experience.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today's charging apps solve — and stop at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EV, MG, Hyundai, 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telemetry, nearest charger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PlugShare, Google Maps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discovery, reviews, 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OpenChargeMap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Crowd-sourced station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Route-aware Supercharger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(cloud-based)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800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existing player answers “where can I charge?” — none answer “should I charge, and how much, right now?”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discovery-first tools fall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105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916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timing intelligence — electricity tariff and grid-load patterns are not factored into charge scheduling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395728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688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500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battery-health optimization — charge targets ignore degradation curves and thermal state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2724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0083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wait-time prediction — station queues are shown as static occupancy, not forecast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712464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8561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66674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dependency — latency and connectivity limit response in low-network zones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4370832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4398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43251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route-aware charge planning — long trips are not decomposed into optimal charge stops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0F3D5C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ChargeWise EdgeAI is built to deliver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231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Cost-optimal timing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charge windows aligned to off-peak tariffs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20231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Battery-safe targets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80–90% charge levels to slow degradation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630" y="202311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station selection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6676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stations by distance, speed, and predicted wait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398907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Route-aware planning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long trips into optimal charge stops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4340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572000" y="3886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870" y="398907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inference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recommendation models on-device, sub-500ms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8366760" y="3886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9630" y="398907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6676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cloud dependency for sensitive vehicle data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8F1F5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177622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sensor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09160" y="160020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SoC / temp, GPS, OBD-II telemetry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2240280"/>
            <a:ext cx="0" cy="128016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8640" y="235000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13232" y="2423160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" y="25260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35000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data layer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09160" y="235000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API, traffic API, charging-station API, tariff data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2990088"/>
            <a:ext cx="0" cy="128016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48640" y="309981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8F1F5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13232" y="3172968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2" y="3275838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9981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engine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709160" y="309981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— Raspberry Pi 5 / Jetson Nano, TF Lite runtime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3739896"/>
            <a:ext cx="0" cy="128016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548640" y="384962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13232" y="3922776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" y="4025646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8496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layer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709160" y="384962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Random Forest — wait-time, tariff, degradation models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663440" y="4489704"/>
            <a:ext cx="0" cy="128016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548640" y="459943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8F1F5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713232" y="4672584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02" y="4775454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45994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709160" y="4599432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predictions into a ranked charging strategy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663440" y="5239512"/>
            <a:ext cx="0" cy="128016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548640" y="534924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713232" y="5422392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102" y="5525262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71600" y="53492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dashboard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4709160" y="5349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Flutter client — driver-facing recommendations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9098280" y="1600200"/>
            <a:ext cx="2560320" cy="4206240"/>
          </a:xfrm>
          <a:prstGeom prst="roundRect">
            <a:avLst>
              <a:gd name="adj" fmla="val 2857"/>
            </a:avLst>
          </a:prstGeom>
          <a:solidFill>
            <a:srgbClr val="0F3D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2"/>
          <p:cNvSpPr/>
          <p:nvPr/>
        </p:nvSpPr>
        <p:spPr>
          <a:xfrm>
            <a:off x="932688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9326880" y="214884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stays on-device. Cloud is used only for non-sensitive context data — weather, traffic, tariff feeds — never raw battery or location logs.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pipeline: from raw signal to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0175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GPS, tariff, traffic, weather streams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33472" y="3154680"/>
            <a:ext cx="256032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889504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26664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26664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26664" y="30175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delta, thermal trend, historical station load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55464" y="3154680"/>
            <a:ext cx="256032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111496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48656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48656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48656" y="30175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(wait-time), Random Forest (tariff), TF Lite (on-device)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77456" y="3154680"/>
            <a:ext cx="256032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33488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70648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70648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&amp; ranking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0648" y="30175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scores station + timing + charge-%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99448" y="3154680"/>
            <a:ext cx="256032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555480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0F3D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9264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0" y="30175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recommendation pushed to mobile dashboard, &lt;500ms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trip, decomposed into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starts trip → vehicle streams SoC, location, destination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0" cy="347472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5420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engine estimates range and flags charge need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044952"/>
            <a:ext cx="0" cy="347472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34670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 ranks nearby stations by wait-time, tariff, and speed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849624"/>
            <a:ext cx="0" cy="347472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15137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recommends station, target %, and optimal arrival window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654296"/>
            <a:ext cx="0" cy="347472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9560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charges — session logged for model refinement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by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231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Random Forest, TensorFlow Lite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20231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5, Jetson Nano (prototype), TF Lite runtime, ONNX (optional)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630" y="20231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Flask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39890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(web), Flutter (mobile)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72000" y="3886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870" y="398907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Firebase Firestore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366760" y="3886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9630" y="398907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data sources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6676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API, OpenStreetMap, OpenChargeMap API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0F3D5C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inference happens on-device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20333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500 ms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latency target for real-time recommendations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157" y="203339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72000" y="2423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battery and location data never leave the vehicle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917" y="203339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offline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66760" y="24231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continue in low-connectivity zones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targets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48640" y="438912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Prototype control unit — sensor aggregation and inference host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Nano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Evaluated for higher-throughput vision / sensor-fusion workloads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dashboard — concept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286000" cy="4480560"/>
          </a:xfrm>
          <a:prstGeom prst="roundRect">
            <a:avLst>
              <a:gd name="adj" fmla="val 7200"/>
            </a:avLst>
          </a:prstGeom>
          <a:solidFill>
            <a:srgbClr val="0B1F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810512"/>
            <a:ext cx="2103120" cy="424281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2286000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239572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69" y="2473909"/>
            <a:ext cx="191110" cy="1911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62%  ·  Healthy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41248" y="2962656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932688" y="30723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" y="3150565"/>
            <a:ext cx="191110" cy="1911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9626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by 8:40 PM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841248" y="36393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932688" y="374904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869" y="3827221"/>
            <a:ext cx="191110" cy="191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6393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 ₹184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841248" y="431596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32688" y="442569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869" y="4503877"/>
            <a:ext cx="191110" cy="1911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43159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Wait: 6 min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3246120" y="1691640"/>
            <a:ext cx="2286000" cy="4480560"/>
          </a:xfrm>
          <a:prstGeom prst="roundRect">
            <a:avLst>
              <a:gd name="adj" fmla="val 7200"/>
            </a:avLst>
          </a:prstGeom>
          <a:solidFill>
            <a:srgbClr val="0B1F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3337560" y="1810512"/>
            <a:ext cx="2103120" cy="424281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347472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Chargers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447288" y="2286000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538728" y="239572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6909" y="2473909"/>
            <a:ext cx="191110" cy="1911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5935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 DC · 1.2km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3447288" y="2962656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3538728" y="30723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6909" y="3150565"/>
            <a:ext cx="191110" cy="19111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959352" y="29626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Indiranagar AC · 2.8km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3447288" y="36393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3538728" y="374904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6909" y="3827221"/>
            <a:ext cx="191110" cy="19111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959352" y="36393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 Layout DC · 3.4km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3447288" y="431596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0"/>
          <p:cNvSpPr/>
          <p:nvPr/>
        </p:nvSpPr>
        <p:spPr>
          <a:xfrm>
            <a:off x="3538728" y="442569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909" y="4503877"/>
            <a:ext cx="191110" cy="19111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959352" y="43159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#1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5852160" y="1691640"/>
            <a:ext cx="2286000" cy="4480560"/>
          </a:xfrm>
          <a:prstGeom prst="roundRect">
            <a:avLst>
              <a:gd name="adj" fmla="val 7200"/>
            </a:avLst>
          </a:prstGeom>
          <a:solidFill>
            <a:srgbClr val="0B1F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3"/>
          <p:cNvSpPr/>
          <p:nvPr/>
        </p:nvSpPr>
        <p:spPr>
          <a:xfrm>
            <a:off x="5943600" y="1810512"/>
            <a:ext cx="2103120" cy="424281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4"/>
          <p:cNvSpPr/>
          <p:nvPr/>
        </p:nvSpPr>
        <p:spPr>
          <a:xfrm>
            <a:off x="608076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6053328" y="2286000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6144768" y="239572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949" y="2473909"/>
            <a:ext cx="191110" cy="19111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56539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85%</a:t>
            </a:r>
            <a:endParaRPr lang="en-US" sz="850" dirty="0"/>
          </a:p>
        </p:txBody>
      </p:sp>
      <p:sp>
        <p:nvSpPr>
          <p:cNvPr id="49" name="Shape 38"/>
          <p:cNvSpPr/>
          <p:nvPr/>
        </p:nvSpPr>
        <p:spPr>
          <a:xfrm>
            <a:off x="6053328" y="2962656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39"/>
          <p:cNvSpPr/>
          <p:nvPr/>
        </p:nvSpPr>
        <p:spPr>
          <a:xfrm>
            <a:off x="6144768" y="30723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949" y="3150565"/>
            <a:ext cx="191110" cy="19111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6565392" y="29626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9:05 PM</a:t>
            </a:r>
            <a:endParaRPr lang="en-US" sz="850" dirty="0"/>
          </a:p>
        </p:txBody>
      </p:sp>
      <p:sp>
        <p:nvSpPr>
          <p:cNvPr id="53" name="Shape 41"/>
          <p:cNvSpPr/>
          <p:nvPr/>
        </p:nvSpPr>
        <p:spPr>
          <a:xfrm>
            <a:off x="6053328" y="36393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42"/>
          <p:cNvSpPr/>
          <p:nvPr/>
        </p:nvSpPr>
        <p:spPr>
          <a:xfrm>
            <a:off x="6144768" y="374904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2949" y="3827221"/>
            <a:ext cx="191110" cy="19111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565392" y="36393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temp normal</a:t>
            </a:r>
            <a:endParaRPr lang="en-US" sz="850" dirty="0"/>
          </a:p>
        </p:txBody>
      </p:sp>
      <p:sp>
        <p:nvSpPr>
          <p:cNvPr id="57" name="Shape 44"/>
          <p:cNvSpPr/>
          <p:nvPr/>
        </p:nvSpPr>
        <p:spPr>
          <a:xfrm>
            <a:off x="6053328" y="431596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45"/>
          <p:cNvSpPr/>
          <p:nvPr/>
        </p:nvSpPr>
        <p:spPr>
          <a:xfrm>
            <a:off x="6144768" y="442569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2949" y="4503877"/>
            <a:ext cx="191110" cy="191110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6565392" y="43159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pack life saved</a:t>
            </a:r>
            <a:endParaRPr lang="en-US" sz="850" dirty="0"/>
          </a:p>
        </p:txBody>
      </p:sp>
      <p:sp>
        <p:nvSpPr>
          <p:cNvPr id="61" name="Shape 47"/>
          <p:cNvSpPr/>
          <p:nvPr/>
        </p:nvSpPr>
        <p:spPr>
          <a:xfrm>
            <a:off x="8458200" y="1691640"/>
            <a:ext cx="2286000" cy="4480560"/>
          </a:xfrm>
          <a:prstGeom prst="roundRect">
            <a:avLst>
              <a:gd name="adj" fmla="val 7200"/>
            </a:avLst>
          </a:prstGeom>
          <a:solidFill>
            <a:srgbClr val="0B1F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48"/>
          <p:cNvSpPr/>
          <p:nvPr/>
        </p:nvSpPr>
        <p:spPr>
          <a:xfrm>
            <a:off x="8549640" y="1810512"/>
            <a:ext cx="2103120" cy="424281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49"/>
          <p:cNvSpPr/>
          <p:nvPr/>
        </p:nvSpPr>
        <p:spPr>
          <a:xfrm>
            <a:off x="86868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</a:t>
            </a:r>
            <a:endParaRPr lang="en-US" sz="1100" dirty="0"/>
          </a:p>
        </p:txBody>
      </p:sp>
      <p:sp>
        <p:nvSpPr>
          <p:cNvPr id="64" name="Shape 50"/>
          <p:cNvSpPr/>
          <p:nvPr/>
        </p:nvSpPr>
        <p:spPr>
          <a:xfrm>
            <a:off x="8659368" y="2286000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51"/>
          <p:cNvSpPr/>
          <p:nvPr/>
        </p:nvSpPr>
        <p:spPr>
          <a:xfrm>
            <a:off x="8750808" y="239572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989" y="2473909"/>
            <a:ext cx="191110" cy="191110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9171432" y="22860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score: 91</a:t>
            </a:r>
            <a:endParaRPr lang="en-US" sz="850" dirty="0"/>
          </a:p>
        </p:txBody>
      </p:sp>
      <p:sp>
        <p:nvSpPr>
          <p:cNvPr id="68" name="Shape 53"/>
          <p:cNvSpPr/>
          <p:nvPr/>
        </p:nvSpPr>
        <p:spPr>
          <a:xfrm>
            <a:off x="8659368" y="2962656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54"/>
          <p:cNvSpPr/>
          <p:nvPr/>
        </p:nvSpPr>
        <p:spPr>
          <a:xfrm>
            <a:off x="8750808" y="307238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0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8989" y="3150565"/>
            <a:ext cx="191110" cy="191110"/>
          </a:xfrm>
          <a:prstGeom prst="rect">
            <a:avLst/>
          </a:prstGeom>
        </p:spPr>
      </p:pic>
      <p:sp>
        <p:nvSpPr>
          <p:cNvPr id="71" name="Text 55"/>
          <p:cNvSpPr/>
          <p:nvPr/>
        </p:nvSpPr>
        <p:spPr>
          <a:xfrm>
            <a:off x="9171432" y="29626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trend ↓</a:t>
            </a:r>
            <a:endParaRPr lang="en-US" sz="850" dirty="0"/>
          </a:p>
        </p:txBody>
      </p:sp>
      <p:sp>
        <p:nvSpPr>
          <p:cNvPr id="72" name="Shape 56"/>
          <p:cNvSpPr/>
          <p:nvPr/>
        </p:nvSpPr>
        <p:spPr>
          <a:xfrm>
            <a:off x="8659368" y="36393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57"/>
          <p:cNvSpPr/>
          <p:nvPr/>
        </p:nvSpPr>
        <p:spPr>
          <a:xfrm>
            <a:off x="8750808" y="374904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8989" y="3827221"/>
            <a:ext cx="191110" cy="191110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9171432" y="36393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Thermal: stable</a:t>
            </a:r>
            <a:endParaRPr lang="en-US" sz="850" dirty="0"/>
          </a:p>
        </p:txBody>
      </p:sp>
      <p:sp>
        <p:nvSpPr>
          <p:cNvPr id="76" name="Shape 59"/>
          <p:cNvSpPr/>
          <p:nvPr/>
        </p:nvSpPr>
        <p:spPr>
          <a:xfrm>
            <a:off x="8659368" y="431596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60"/>
          <p:cNvSpPr/>
          <p:nvPr/>
        </p:nvSpPr>
        <p:spPr>
          <a:xfrm>
            <a:off x="8750808" y="442569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8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8989" y="4503877"/>
            <a:ext cx="191110" cy="191110"/>
          </a:xfrm>
          <a:prstGeom prst="rect">
            <a:avLst/>
          </a:prstGeom>
        </p:spPr>
      </p:pic>
      <p:sp>
        <p:nvSpPr>
          <p:cNvPr id="79" name="Text 61"/>
          <p:cNvSpPr/>
          <p:nvPr/>
        </p:nvSpPr>
        <p:spPr>
          <a:xfrm>
            <a:off x="9171432" y="43159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sessions logged</a:t>
            </a:r>
            <a:endParaRPr lang="en-US" sz="850" dirty="0"/>
          </a:p>
        </p:txBody>
      </p:sp>
      <p:sp>
        <p:nvSpPr>
          <p:cNvPr id="80" name="Text 62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concept — final UI to be validated with usability testing</a:t>
            </a:r>
            <a:endParaRPr lang="en-US" sz="950" dirty="0"/>
          </a:p>
        </p:txBody>
      </p:sp>
      <p:sp>
        <p:nvSpPr>
          <p:cNvPr id="81" name="Text 6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82" name="Text 6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outcomes from optimized charging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400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Midpoints of estimated ranges (see below) — not measured production results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37360"/>
          <a:ext cx="4343400" cy="27432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cost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lifespan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wait-time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inference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F3D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build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pipeline, core recommendation logic, mobile UI concept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3474720"/>
            <a:ext cx="201168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55848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38728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38728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pilot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38728" y="301752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Raspberry Pi 5 unit, validate against real charging sessions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61888" y="3474720"/>
            <a:ext cx="201168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63056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45936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 / CAN integration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45936" y="301752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vehicle telemetry via OBD-II and Battery Management Systems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69096" y="3474720"/>
            <a:ext cx="201168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970264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8F1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53144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53144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&amp; OEM scale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53144" y="301752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Multi-vehicle fleet optimization, OEM partnership integration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V2G-aware scheduling  ·  solar-integrated charging bays  ·  smart-grid demand response  ·  degradation-aware second-life battery routing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risks, engineered around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/>
              <a:tblGrid>
                <a:gridCol w="4425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access to real EV battery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datasets + simulation-based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charging station availability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API integration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hardware resource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TensorFlow Lite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recommendation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inference — no cloud round-trip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800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risk mapped to a specific engineering decision — not a hope.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0F3D5C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created across the EV ecosystem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20231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owners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charging bills, healthier battery, less range anxiety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870" y="20231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smart-charging feature, fewer warranty battery claims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630" y="202311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operators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6676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spread across the network, higher station utilization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398907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per-km energy cost, predictable turnaround at depots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4340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572000" y="3886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870" y="398907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policy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public charging capex, faster EV adoption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F3D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8366760" y="38862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9630" y="398907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6676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6676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Demand-response ready, reduced peak-hour load spikes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CHARGEWISE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advantages no competitor stacks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105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916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intelligence, not discovery — the only layer answering when, where, and how much to charge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395728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688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500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Battery-health-aware by design — charge targets built around degradation curves, not just a full tank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2724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0083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inference — sub-500ms recommendations, no cloud round-trip, works offline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712464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78561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66674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— raw battery and location data stay on-device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4370832"/>
            <a:ext cx="365760" cy="36576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443984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43251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conceptualized — fresh architecture and ML pipeline, not a repackaged discovery app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F3D5C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EA5A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767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60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— making every charge a decision, not a guess.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4160520"/>
            <a:ext cx="2926080" cy="0"/>
          </a:xfrm>
          <a:prstGeom prst="line">
            <a:avLst/>
          </a:prstGeom>
          <a:noFill/>
          <a:ln w="254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Mithil Gala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1300" dirty="0" err="1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</a:t>
            </a:r>
            <a:r>
              <a:rPr lang="en-US" sz="1300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mithil.gala@gmail.com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ChargeWise EdgeAI  |  Tata Technologies InnoVent-27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1429</Words>
  <Application>Microsoft Office PowerPoint</Application>
  <PresentationFormat>Widescreen</PresentationFormat>
  <Paragraphs>287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ChargeWise EdgeAI</dc:title>
  <dc:subject>PptxGenJS Presentation</dc:subject>
  <dc:creator>Mithil Gala</dc:creator>
  <cp:lastModifiedBy>Mithil Gala</cp:lastModifiedBy>
  <cp:revision>2</cp:revision>
  <dcterms:created xsi:type="dcterms:W3CDTF">2026-07-03T05:07:01Z</dcterms:created>
  <dcterms:modified xsi:type="dcterms:W3CDTF">2026-07-03T10:53:54Z</dcterms:modified>
</cp:coreProperties>
</file>